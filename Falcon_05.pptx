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91" r:id="rId2"/>
    <p:sldId id="281" r:id="rId3"/>
    <p:sldId id="298" r:id="rId4"/>
    <p:sldId id="290" r:id="rId5"/>
    <p:sldId id="293" r:id="rId6"/>
    <p:sldId id="302" r:id="rId7"/>
    <p:sldId id="294" r:id="rId8"/>
    <p:sldId id="299" r:id="rId9"/>
    <p:sldId id="300" r:id="rId10"/>
    <p:sldId id="301" r:id="rId11"/>
    <p:sldId id="29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FFE3C7-A0DE-4DD1-BB87-E7A881BACCB8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922235-6050-425D-B04A-F33E0451A5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644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286000" y="514350"/>
            <a:ext cx="4572000" cy="2571750"/>
          </a:xfrm>
          <a:noFill/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286000" y="514350"/>
            <a:ext cx="4572000" cy="2571750"/>
          </a:xfrm>
          <a:noFill/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286000" y="514350"/>
            <a:ext cx="4572000" cy="2571750"/>
          </a:xfrm>
          <a:noFill/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286000" y="514350"/>
            <a:ext cx="4572000" cy="2571750"/>
          </a:xfrm>
          <a:noFill/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286000" y="514350"/>
            <a:ext cx="4572000" cy="2571750"/>
          </a:xfrm>
          <a:noFill/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286000" y="514350"/>
            <a:ext cx="4572000" cy="2571750"/>
          </a:xfrm>
          <a:noFill/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286000" y="514350"/>
            <a:ext cx="4572000" cy="2571750"/>
          </a:xfrm>
          <a:noFill/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286000" y="514350"/>
            <a:ext cx="4572000" cy="2571750"/>
          </a:xfrm>
          <a:noFill/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286000" y="514350"/>
            <a:ext cx="4572000" cy="2571750"/>
          </a:xfrm>
          <a:noFill/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2286000" y="514350"/>
            <a:ext cx="4572000" cy="2571750"/>
          </a:xfrm>
          <a:noFill/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7E99B-323B-E950-85CF-857997DFA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94EF5C-8EC3-0A99-100E-187AA7135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08184-B479-A1DE-010A-D23A9B11B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EA514-2D00-4975-9339-BCC6080DA6D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44B82-71ED-AED2-60C7-A67C69827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0D5AF-9847-1662-5E07-1C64087C9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ED68-CC03-43E8-A659-3AFE3943B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80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898A8-CC94-834D-9A9E-D9E1F8590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A9BFB-72EC-9EB3-66CC-C812B0343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CC835-453A-1127-46EC-1E7E8ACAA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EA514-2D00-4975-9339-BCC6080DA6D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568A2-8F08-7F4D-ABE7-CC6898DD7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E6426-D559-03C5-BB88-BC7694978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ED68-CC03-43E8-A659-3AFE3943B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298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29BF7-CFD6-ED6F-7CCE-13ED15EE3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64E41A-508D-793A-6BDF-6A798371F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65019-1E91-42AF-3B8C-596472A8B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EA514-2D00-4975-9339-BCC6080DA6D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45DB5-97C2-F30E-089C-DA55D7165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E59FC-1D12-55C5-2B92-7E9309297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ED68-CC03-43E8-A659-3AFE3943B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969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E1F81-4BD7-4503-136D-F7C4547A0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FA022-C595-3EF5-910D-644A65CD01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ED8D9-44A9-70A9-B3E5-755BA59EF5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84D48-B8D4-9EC6-925F-FDD861108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EA514-2D00-4975-9339-BCC6080DA6D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0CC90-F59B-7D28-BB88-C014C2BE9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66C7-E448-0CC1-9585-140C285CE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ED68-CC03-43E8-A659-3AFE3943B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455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E5B37-0396-CB83-969A-89442BB48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4673E-178E-FF6F-B52F-CFC731977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37C5C8-E693-17B2-71BE-DD396B1E8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A6427C-BDB2-9FB1-6AF6-6C3B2E28BF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C25C03-4F07-E684-C070-4FDD6D89C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14C374-1153-3167-8784-5146A278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EA514-2D00-4975-9339-BCC6080DA6D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80531D-499A-51F5-AA93-37AC8D3E1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33CF53-BBBC-9BC0-8C9F-FDF56479B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ED68-CC03-43E8-A659-3AFE3943B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16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6D64F-9258-B5A8-4B41-7A9BC2ACC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CE77C4-21A7-36E0-E8CF-18EE7271E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EA514-2D00-4975-9339-BCC6080DA6D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723D4C-8679-19BF-F285-02D6F2ED2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10C12-C785-BB37-1108-4E66A1F57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ED68-CC03-43E8-A659-3AFE3943B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47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FFE152-260C-3117-F6AA-9E99EBDC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EA514-2D00-4975-9339-BCC6080DA6D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3F3D2F-96E3-7DF5-6166-360556EC7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88E84-0564-C41F-8FA7-3E747E966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ED68-CC03-43E8-A659-3AFE3943B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005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EAED3-F76F-6826-925B-2756C90AD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56B89-549B-D7BC-FF53-D1DF80296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900130-EDF6-144E-2E4D-8401EAFA0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4FC8B-A810-5491-BF8D-9EFB8B43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EA514-2D00-4975-9339-BCC6080DA6D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6FD63-5505-4873-1162-2D093DFD7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85086-3431-F945-D527-DBE73FDD5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ED68-CC03-43E8-A659-3AFE3943B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777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FE81D-AE2F-1D82-2695-C9BE58F7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E5CAA1-09C3-EA21-1B3A-76265CA4C3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C1D27-A181-9FA5-6D53-FC94CF1E3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D2318-C7B3-A80E-559E-BD6818114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EA514-2D00-4975-9339-BCC6080DA6D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6EF88-E796-91B9-E5BA-838DC6162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92618-50CF-A258-61B4-8E9D647F1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ED68-CC03-43E8-A659-3AFE3943B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673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DC026-A0E0-FF14-C3BF-B64252E08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2DAD9-A24E-ADAE-619E-9904CB97DA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B9274-2361-7A73-59A6-33022E98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EA514-2D00-4975-9339-BCC6080DA6D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6A4D3-5430-3E32-804F-791742EE1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5A4A8-1865-1CBD-8DEA-56CA8A419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ED68-CC03-43E8-A659-3AFE3943B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164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9E722F-BA5C-A89B-CA66-DB68B3F20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02DFD2-0C6D-7215-4279-D0A774DCF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110A5-C070-4C01-D9CB-CFC1B359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EA514-2D00-4975-9339-BCC6080DA6D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4630E-3EC2-C670-7DFD-48F4E859A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5B838-CFC1-228E-5896-317CE469A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ED68-CC03-43E8-A659-3AFE3943B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5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3B565A-8DCE-7A1A-4A4F-D0625DB9C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74D51-E07C-CEE6-6684-203B23218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B21B5-0288-CF35-AF29-ADE3507832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EA514-2D00-4975-9339-BCC6080DA6D5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A8593-7CDD-6E93-055A-7DCA5A9F4B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61AD1-F9FD-DE24-53B7-735FA3CFF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4ED68-CC03-43E8-A659-3AFE3943B4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314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393371" y="81376"/>
            <a:ext cx="7601437" cy="87707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ARTEMIS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2301" y="1835289"/>
            <a:ext cx="7215026" cy="320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No – 0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Agriguard AI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Falcon05</a:t>
            </a:r>
          </a:p>
        </p:txBody>
      </p:sp>
      <p:pic>
        <p:nvPicPr>
          <p:cNvPr id="11" name="Picture 10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4" name="Picture 13" descr="EFusion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057" y="203043"/>
            <a:ext cx="1303845" cy="11125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6451600" cy="954578"/>
          </a:xfrm>
        </p:spPr>
        <p:txBody>
          <a:bodyPr/>
          <a:lstStyle/>
          <a:p>
            <a:pPr eaLnBrk="1" hangingPunct="1"/>
            <a:r>
              <a:rPr lang="en-US" sz="3600" b="1" dirty="0"/>
              <a:t>PROBLEM STATEMENT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62820" y="795574"/>
            <a:ext cx="11319580" cy="763220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endParaRPr lang="en-US" altLang="en-US" dirty="0"/>
          </a:p>
          <a:p>
            <a:r>
              <a:rPr lang="en-US" altLang="en-US" sz="2400" b="1" u="sng" dirty="0"/>
              <a:t>Problem:-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dirty="0"/>
              <a:t>Farmers cannot easily identify plant diseases at early stages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dirty="0"/>
              <a:t>Lack of agricultural experts in rural areas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dirty="0"/>
              <a:t>Wrong pesticide usage increases cost and soil damage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dirty="0"/>
              <a:t>Crop loss reduces farmer income</a:t>
            </a:r>
          </a:p>
          <a:p>
            <a:r>
              <a:rPr lang="en-US" altLang="en-US" dirty="0"/>
              <a:t> </a:t>
            </a:r>
            <a:r>
              <a:rPr lang="en-US" altLang="en-US" sz="2400" b="1" u="sng" dirty="0"/>
              <a:t>Who faces this?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dirty="0"/>
              <a:t>Small and medium farmers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dirty="0"/>
              <a:t>Rural agricultural communities</a:t>
            </a:r>
          </a:p>
          <a:p>
            <a:r>
              <a:rPr lang="en-US" altLang="en-US" sz="2400" b="1" u="sng" dirty="0"/>
              <a:t>Current Challenges:-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dirty="0"/>
              <a:t>Manual inspection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dirty="0"/>
              <a:t>Delayed diagnosis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dirty="0"/>
              <a:t>No instant expert guidance</a:t>
            </a:r>
          </a:p>
          <a:p>
            <a:r>
              <a:rPr lang="en-US" altLang="en-US" sz="2400" b="1" u="sng" dirty="0"/>
              <a:t>Real-world relevance:-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dirty="0"/>
              <a:t>India is agriculture dependent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dirty="0"/>
              <a:t>Early disease detection increases productivity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en-US" dirty="0"/>
              <a:t>Supports Digital India &amp; Smart Farming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4" name="Picture 13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863" y="203044"/>
            <a:ext cx="1271040" cy="1084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267879" y="0"/>
            <a:ext cx="7827984" cy="95457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b="1" dirty="0"/>
              <a:t>PROPOSED SOLUTION </a:t>
            </a:r>
            <a:br>
              <a:rPr lang="en-US" sz="3600" b="1" dirty="0"/>
            </a:br>
            <a:r>
              <a:rPr lang="en-US" sz="3600" b="1" dirty="0"/>
              <a:t>(YOUR IDEA)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4" name="Picture 13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863" y="203044"/>
            <a:ext cx="1271040" cy="10845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2B4158-AE21-F43A-A7CA-12B547613EE4}"/>
              </a:ext>
            </a:extLst>
          </p:cNvPr>
          <p:cNvSpPr txBox="1"/>
          <p:nvPr/>
        </p:nvSpPr>
        <p:spPr>
          <a:xfrm>
            <a:off x="172385" y="937394"/>
            <a:ext cx="77758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 </a:t>
            </a:r>
            <a:r>
              <a:rPr lang="en-IN" sz="2400" b="1" u="sng" dirty="0"/>
              <a:t>Concept:-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An AI-powered web application that: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Detects plant diseases using leaf images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Provides suitable treatment suggestions instantly</a:t>
            </a:r>
          </a:p>
          <a:p>
            <a:r>
              <a:rPr lang="en-IN" sz="2400" b="1" u="sng" dirty="0"/>
              <a:t>How it works (High Level):-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Farmer uploads plant leaf image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ML model predicts disease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System shows: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Disease name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Confidence percentage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Suggested treatment</a:t>
            </a:r>
          </a:p>
          <a:p>
            <a:r>
              <a:rPr lang="en-IN" dirty="0"/>
              <a:t> </a:t>
            </a:r>
            <a:r>
              <a:rPr lang="en-IN" sz="2400" b="1" u="sng" dirty="0"/>
              <a:t>Main Features:-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Image-based disease detection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Instant AI prediction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Simple web interface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Treatment &amp; pesticide suggestion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Works on mobile browser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35157" y="-32657"/>
            <a:ext cx="671182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89935" y="1299093"/>
            <a:ext cx="9404965" cy="261610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Technologies Used:-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TensorFlow /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Keras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(CNN Model)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Flask (Backend API)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70E7D7-CBC2-C415-AC46-B672EC1D7E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485464"/>
            <a:ext cx="12192000" cy="35376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59236" y="79310"/>
            <a:ext cx="7513169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939B74-2A0B-8A36-EB52-23622667DFD2}"/>
              </a:ext>
            </a:extLst>
          </p:cNvPr>
          <p:cNvSpPr txBox="1"/>
          <p:nvPr/>
        </p:nvSpPr>
        <p:spPr>
          <a:xfrm>
            <a:off x="688258" y="1110343"/>
            <a:ext cx="84557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sz="2400" b="1" u="sng" dirty="0"/>
              <a:t>Feasibility:-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No hardware required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Low cost implementation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Uses open-source tools</a:t>
            </a:r>
          </a:p>
          <a:p>
            <a:r>
              <a:rPr lang="en-IN" sz="2000" dirty="0"/>
              <a:t> </a:t>
            </a:r>
            <a:r>
              <a:rPr lang="en-IN" sz="2400" b="1" u="sng" dirty="0"/>
              <a:t>Challenges:-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Model accuracy depends on dataset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Internet requirement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Different lighting conditions in images</a:t>
            </a:r>
          </a:p>
          <a:p>
            <a:r>
              <a:rPr lang="en-IN" sz="2400" b="1" u="sng" dirty="0"/>
              <a:t>Solutions:-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Data augmentation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Model retraining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Optimize for mobile usage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59236" y="79310"/>
            <a:ext cx="7513169" cy="1143000"/>
          </a:xfrm>
        </p:spPr>
        <p:txBody>
          <a:bodyPr/>
          <a:lstStyle/>
          <a:p>
            <a:pPr eaLnBrk="1" hangingPunct="1"/>
            <a:r>
              <a:rPr lang="en-US" sz="3600" b="1" dirty="0"/>
              <a:t>CHALLENGES &amp; RISKS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363200-3DDC-4E32-4F83-E57DD54D30A2}"/>
              </a:ext>
            </a:extLst>
          </p:cNvPr>
          <p:cNvSpPr txBox="1"/>
          <p:nvPr/>
        </p:nvSpPr>
        <p:spPr>
          <a:xfrm>
            <a:off x="493143" y="851521"/>
            <a:ext cx="86792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000" dirty="0"/>
              <a:t>Incorrect prediction risk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000" dirty="0"/>
              <a:t>Limited dataset coverage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000" dirty="0"/>
              <a:t>Farmers may upload unclear images</a:t>
            </a:r>
          </a:p>
          <a:p>
            <a:r>
              <a:rPr lang="en-IN" sz="2400" b="1" u="sng" dirty="0"/>
              <a:t>Mitigation:-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000" dirty="0"/>
              <a:t>Confidence score display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000" dirty="0"/>
              <a:t>Clear instructions for image upload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000" dirty="0"/>
              <a:t>Continuous model improvement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9006" y="-47625"/>
            <a:ext cx="8745894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6080EE-75F3-749C-95A9-5C1F01415AC4}"/>
              </a:ext>
            </a:extLst>
          </p:cNvPr>
          <p:cNvSpPr txBox="1"/>
          <p:nvPr/>
        </p:nvSpPr>
        <p:spPr>
          <a:xfrm>
            <a:off x="383512" y="1222310"/>
            <a:ext cx="1142497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u="sng" dirty="0"/>
              <a:t>Social Impact:-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Helps farmers in remote areas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Reduces dependency on experts</a:t>
            </a:r>
          </a:p>
          <a:p>
            <a:r>
              <a:rPr lang="en-IN" dirty="0"/>
              <a:t>  </a:t>
            </a:r>
            <a:r>
              <a:rPr lang="en-IN" sz="2400" b="1" u="sng" dirty="0"/>
              <a:t>Economic Impact:-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Reduces crop loss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Increases farmer income</a:t>
            </a:r>
          </a:p>
          <a:p>
            <a:r>
              <a:rPr lang="en-IN" sz="2400" b="1" u="sng" dirty="0"/>
              <a:t>  Environmental Impact:-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Prevents excessive pesticide use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Promotes sustainable farming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E2B9D2-C41E-B417-C96E-4D9578D580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5840" y="851521"/>
            <a:ext cx="4923692" cy="52791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9006" y="-47625"/>
            <a:ext cx="8745894" cy="1143000"/>
          </a:xfrm>
        </p:spPr>
        <p:txBody>
          <a:bodyPr/>
          <a:lstStyle/>
          <a:p>
            <a:pPr eaLnBrk="1" hangingPunct="1"/>
            <a:r>
              <a:rPr lang="en-US" sz="3600" b="1" dirty="0"/>
              <a:t>TARGET USERS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953617-DF94-4240-C826-6B6F928FE63F}"/>
              </a:ext>
            </a:extLst>
          </p:cNvPr>
          <p:cNvSpPr txBox="1"/>
          <p:nvPr/>
        </p:nvSpPr>
        <p:spPr>
          <a:xfrm>
            <a:off x="403123" y="1222310"/>
            <a:ext cx="86709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Farmers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Agricultural students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Government agriculture departments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Agri start-ups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9006" y="-47625"/>
            <a:ext cx="8745894" cy="1143000"/>
          </a:xfrm>
        </p:spPr>
        <p:txBody>
          <a:bodyPr/>
          <a:lstStyle/>
          <a:p>
            <a:pPr eaLnBrk="1" hangingPunct="1"/>
            <a:r>
              <a:rPr lang="en-US" sz="3600" b="1" dirty="0"/>
              <a:t>FUTURE SCOPE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AE589D-FF79-734F-BAD7-839FBE5292A4}"/>
              </a:ext>
            </a:extLst>
          </p:cNvPr>
          <p:cNvSpPr txBox="1"/>
          <p:nvPr/>
        </p:nvSpPr>
        <p:spPr>
          <a:xfrm>
            <a:off x="570271" y="1317523"/>
            <a:ext cx="857372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Multi-language support (Hindi, Marathi, etc.)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Voice-based interaction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Offline model deployment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Integration with weather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b="1" dirty="0"/>
              <a:t>Government agriculture portal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9006" y="-47625"/>
            <a:ext cx="8745894" cy="1143000"/>
          </a:xfrm>
        </p:spPr>
        <p:txBody>
          <a:bodyPr/>
          <a:lstStyle/>
          <a:p>
            <a:pPr eaLnBrk="1" hangingPunct="1"/>
            <a:r>
              <a:rPr lang="en-US" sz="3600" b="1" dirty="0"/>
              <a:t>BUSINESS MODEL / PROFIT STRATEGY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4065" y="2479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8080" y="332996"/>
            <a:ext cx="1194498" cy="10192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189C86-8467-4039-68E3-E8522568B86A}"/>
              </a:ext>
            </a:extLst>
          </p:cNvPr>
          <p:cNvSpPr txBox="1"/>
          <p:nvPr/>
        </p:nvSpPr>
        <p:spPr>
          <a:xfrm>
            <a:off x="599768" y="1252648"/>
            <a:ext cx="85442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Free basic disease detection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Premium subscription for:</a:t>
            </a:r>
          </a:p>
          <a:p>
            <a:r>
              <a:rPr lang="en-IN" sz="2000" b="1" dirty="0"/>
              <a:t>               * Advanced analytics</a:t>
            </a:r>
          </a:p>
          <a:p>
            <a:r>
              <a:rPr lang="en-IN" sz="2000" b="1" dirty="0"/>
              <a:t>               * Personalized farming tips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Government collaboration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Agri-company partnerships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437951" y="-47625"/>
            <a:ext cx="7299649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11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pic>
        <p:nvPicPr>
          <p:cNvPr id="11" name="Picture 10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CE5AF2-9034-9C8A-BB74-12BBD3152AB4}"/>
              </a:ext>
            </a:extLst>
          </p:cNvPr>
          <p:cNvSpPr txBox="1"/>
          <p:nvPr/>
        </p:nvSpPr>
        <p:spPr>
          <a:xfrm>
            <a:off x="521110" y="1222310"/>
            <a:ext cx="86228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Plant Village Dataset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TensorFlow Documentation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Research papers on CNN for plant disease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391</Words>
  <Application>Microsoft Office PowerPoint</Application>
  <PresentationFormat>Widescreen</PresentationFormat>
  <Paragraphs>128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MS PGothic</vt:lpstr>
      <vt:lpstr>Aptos</vt:lpstr>
      <vt:lpstr>Arial</vt:lpstr>
      <vt:lpstr>Calibri</vt:lpstr>
      <vt:lpstr>Calibri Light</vt:lpstr>
      <vt:lpstr>Garamond</vt:lpstr>
      <vt:lpstr>Times New Roman</vt:lpstr>
      <vt:lpstr>TradeGothic</vt:lpstr>
      <vt:lpstr>Wingdings</vt:lpstr>
      <vt:lpstr>Office Theme</vt:lpstr>
      <vt:lpstr>ARTEMIS HACKATHON 2026</vt:lpstr>
      <vt:lpstr>PROBLEM STATEMENT</vt:lpstr>
      <vt:lpstr>PROPOSED SOLUTION  (YOUR IDEA)</vt:lpstr>
      <vt:lpstr>TECHNICAL APPROACH</vt:lpstr>
      <vt:lpstr>FEASIBILITY AND VIABILITY</vt:lpstr>
      <vt:lpstr>CHALLENGES &amp; RISKS</vt:lpstr>
      <vt:lpstr>IMPACT AND BENEFITS</vt:lpstr>
      <vt:lpstr>TARGET USERS</vt:lpstr>
      <vt:lpstr>FUTURE SCOPE</vt:lpstr>
      <vt:lpstr>BUSINESS MODEL / PROFIT STRATEGY</vt:lpstr>
      <vt:lpstr>RESEARCH  AND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Sangram Rout</dc:creator>
  <cp:lastModifiedBy>Sangram Rout</cp:lastModifiedBy>
  <cp:revision>1</cp:revision>
  <dcterms:created xsi:type="dcterms:W3CDTF">2026-02-27T13:13:48Z</dcterms:created>
  <dcterms:modified xsi:type="dcterms:W3CDTF">2026-02-27T13:17:32Z</dcterms:modified>
</cp:coreProperties>
</file>